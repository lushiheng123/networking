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313" r:id="rId2"/>
    <p:sldId id="31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5" autoAdjust="0"/>
    <p:restoredTop sz="92988" autoAdjust="0"/>
  </p:normalViewPr>
  <p:slideViewPr>
    <p:cSldViewPr snapToGrid="0">
      <p:cViewPr varScale="1">
        <p:scale>
          <a:sx n="102" d="100"/>
          <a:sy n="102" d="100"/>
        </p:scale>
        <p:origin x="208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AE9BA-2152-45B7-A934-586DA98103FC}" type="datetimeFigureOut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ACB69-FFCD-420B-811A-595AE880C7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ACB69-FFCD-420B-811A-595AE880C7C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ACB69-FFCD-420B-811A-595AE880C7C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15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50" t="56944" r="2" b="9028"/>
          <a:stretch>
            <a:fillRect/>
          </a:stretch>
        </p:blipFill>
        <p:spPr bwMode="auto">
          <a:xfrm>
            <a:off x="8443731" y="3744000"/>
            <a:ext cx="3655342" cy="23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69" y="3744000"/>
            <a:ext cx="8369462" cy="23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11" descr="未标题-1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000" y="540000"/>
            <a:ext cx="2524125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16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5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1"/>
          <p:cNvSpPr>
            <a:spLocks noChangeArrowheads="1"/>
          </p:cNvSpPr>
          <p:nvPr userDrawn="1"/>
        </p:nvSpPr>
        <p:spPr bwMode="auto">
          <a:xfrm>
            <a:off x="9383944" y="1773238"/>
            <a:ext cx="2345314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Contents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2"/>
          <p:cNvSpPr>
            <a:spLocks noChangeArrowheads="1"/>
          </p:cNvSpPr>
          <p:nvPr userDrawn="1"/>
        </p:nvSpPr>
        <p:spPr bwMode="auto">
          <a:xfrm>
            <a:off x="10128857" y="2357438"/>
            <a:ext cx="127620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中黑简体" panose="02000000000000000000"/>
                <a:ea typeface="方正兰亭中黑简体" panose="02000000000000000000"/>
                <a:cs typeface="方正兰亭中黑简体" panose="02000000000000000000"/>
              </a:rPr>
              <a:t>目 录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19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1"/>
          <a:stretch>
            <a:fillRect/>
          </a:stretch>
        </p:blipFill>
        <p:spPr bwMode="auto">
          <a:xfrm>
            <a:off x="0" y="3175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5" descr="未标题-1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52" y="6264000"/>
            <a:ext cx="122589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0" y="7200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10908000" y="6264000"/>
            <a:ext cx="828675" cy="365125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1ED4C646-3112-4B76-8850-18BDAD6404D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文本框 10"/>
          <p:cNvSpPr txBox="1"/>
          <p:nvPr userDrawn="1"/>
        </p:nvSpPr>
        <p:spPr>
          <a:xfrm>
            <a:off x="9468000" y="6336000"/>
            <a:ext cx="15667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200" b="1" dirty="0">
                <a:solidFill>
                  <a:srgbClr val="0D0D0D"/>
                </a:solidFill>
                <a:latin typeface="方正兰亭中黑简体" panose="02000000000000000000" charset="-122"/>
                <a:ea typeface="方正兰亭中黑简体" panose="02000000000000000000" charset="-122"/>
                <a:cs typeface="HYDaSongJ"/>
              </a:rPr>
              <a:t>胜利油田物探研究院</a:t>
            </a:r>
            <a:endParaRPr kumimoji="1" lang="en-US" altLang="zh-CN" sz="1200" b="1" dirty="0">
              <a:solidFill>
                <a:srgbClr val="0D0D0D"/>
              </a:solidFill>
              <a:latin typeface="方正兰亭中黑简体" panose="02000000000000000000" charset="-122"/>
              <a:ea typeface="方正兰亭中黑简体" panose="02000000000000000000" charset="-122"/>
              <a:cs typeface="HYDaSongJ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1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7938"/>
            <a:ext cx="1215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7"/>
          <p:cNvSpPr txBox="1"/>
          <p:nvPr userDrawn="1"/>
        </p:nvSpPr>
        <p:spPr>
          <a:xfrm>
            <a:off x="1390650" y="2111375"/>
            <a:ext cx="7142163" cy="10906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2200" cap="none" spc="0" normalizeH="0" baseline="0" noProof="0" dirty="0">
                <a:ln>
                  <a:noFill/>
                </a:ln>
                <a:solidFill>
                  <a:srgbClr val="CD0A2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Arial" panose="020B0604020202020204"/>
              </a:rPr>
              <a:t>谢谢！</a:t>
            </a:r>
          </a:p>
        </p:txBody>
      </p:sp>
      <p:pic>
        <p:nvPicPr>
          <p:cNvPr id="5" name="图片 6" descr="未标题-1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265" y="5220000"/>
            <a:ext cx="2527191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02561" y="64655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胜利物探院资料处理计算能力</a:t>
            </a:r>
          </a:p>
        </p:txBody>
      </p:sp>
      <p:sp>
        <p:nvSpPr>
          <p:cNvPr id="7" name="矩形 3"/>
          <p:cNvSpPr/>
          <p:nvPr/>
        </p:nvSpPr>
        <p:spPr>
          <a:xfrm>
            <a:off x="76058" y="738922"/>
            <a:ext cx="4357397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胜利物探院处理计算能力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—CPU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计算</a:t>
            </a:r>
          </a:p>
        </p:txBody>
      </p:sp>
      <p:sp>
        <p:nvSpPr>
          <p:cNvPr id="10" name="矩形 9"/>
          <p:cNvSpPr/>
          <p:nvPr/>
        </p:nvSpPr>
        <p:spPr>
          <a:xfrm>
            <a:off x="211706" y="2261257"/>
            <a:ext cx="1522332" cy="3599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年升级设备</a:t>
            </a:r>
          </a:p>
        </p:txBody>
      </p:sp>
      <p:sp>
        <p:nvSpPr>
          <p:cNvPr id="12" name="矩形 11"/>
          <p:cNvSpPr/>
          <p:nvPr/>
        </p:nvSpPr>
        <p:spPr>
          <a:xfrm>
            <a:off x="211706" y="4686732"/>
            <a:ext cx="2937894" cy="35993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年升级设备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41745" y="994507"/>
            <a:ext cx="11517746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年两次处理系统升级，目前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（不包含曙光海光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，下同）计算节点数量为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562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1124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颗，计算核心数量为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19056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核心数），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计算能力能力达到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1642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万亿次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秒，并行存储容量达到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12.9PB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3.8PB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41745" y="2630115"/>
          <a:ext cx="11517746" cy="2169872"/>
        </p:xfrm>
        <a:graphic>
          <a:graphicData uri="http://schemas.openxmlformats.org/drawingml/2006/table">
            <a:tbl>
              <a:tblPr/>
              <a:tblGrid>
                <a:gridCol w="101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0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1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92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99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63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46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节点范围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软件应用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节点数量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数量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Core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数量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单颗运算速度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万亿次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秒（双精度）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计算能力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万亿次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ht1001-ht1152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计算节点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-25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Omega2018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Intel(R) Xeon(R) Gold 6242 CPU @ 2.80GHz *2 32core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304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4864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1.4336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435.8144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7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ht1153-ht1172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计算节点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IB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Intel(R) Xeon(R) Gold 6242 CPU @ 2.80GHz *2 32core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1.4336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57.344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yx8010-yx8021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Tomodel 10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计算节点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Tomodel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V10.0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Intel(R) Xeon(R) Gold 6150 CPU @ 2.70GHz *2 36core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432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1.5552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37.3248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673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ht0001-ht0088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geovation2.1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计算节点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geovation2.1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88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Intel(R) Xeon(R) Gold 6242 CPU @ 2.80GHz *2 32core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2816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1.4336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252.3136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Intel(R) Xeon(R) Gold 5218 CPU @ 2.30GHz *2 32core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128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1.1776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9.4208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824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ht0089-ht0092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geovation2.1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应用服务器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Intel(R) Xeon(R) Gold 6242 CPU @ 2.80GHz *2 32core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1.4336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2.8672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1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ht0093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geovation2.1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静校正服务器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htc001-htc048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勘探开发云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勘探开发云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48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Intel(R) Xeon(R) Gold 6242 CPU @ 2.80GHz *2 32core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3072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1.4336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137.6256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5216">
                <a:tc>
                  <a:txBody>
                    <a:bodyPr/>
                    <a:lstStyle/>
                    <a:p>
                      <a:pPr algn="l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58" marR="7158" marT="71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58" marR="7158" marT="71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58" marR="7158" marT="71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58" marR="7158" marT="715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r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合计：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933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万亿次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秒双精度运算能力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双精度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932.7104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176197" y="5046669"/>
          <a:ext cx="9839036" cy="1163088"/>
        </p:xfrm>
        <a:graphic>
          <a:graphicData uri="http://schemas.openxmlformats.org/drawingml/2006/table">
            <a:tbl>
              <a:tblPr/>
              <a:tblGrid>
                <a:gridCol w="925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8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0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4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91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节点范围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节点数量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数量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Core</a:t>
                      </a: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数量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单颗运算速度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亿次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秒（双精度）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计算能力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万亿次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14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浪潮集群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浪潮英信服务器 刀箱（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i24M6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 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Intel(R) Xeon(R) Gold 6346 CPU @ 3.10GHz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6400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1.5872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634.88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1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浪潮英信服务器 刀箱（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i24M6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 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Intel(R) Xeon(R) Gold 6334 CPU @ 3.10GHz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512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0.9216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58.9824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大内存服务器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NF5280M6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Intel(R) Xeon(R) Gold 6346 CPU @ 3.10GHz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1.5872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15.872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14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曙光集群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曙光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CX52 G45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刀片式计算节点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Hygon 7285 CPU @2.0GHz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2560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0.5512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44.096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141">
                <a:tc>
                  <a:txBody>
                    <a:bodyPr/>
                    <a:lstStyle/>
                    <a:p>
                      <a:pPr algn="l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58" marR="7158" marT="71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58" marR="7158" marT="71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58" marR="7158" marT="715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r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合计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:753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万亿次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秒双精度运算能力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双精度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753.8304</a:t>
                      </a:r>
                    </a:p>
                  </a:txBody>
                  <a:tcPr marL="7158" marR="7158" marT="71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834765" y="2045970"/>
            <a:ext cx="7555865" cy="3683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对外宣传是计算节点</a:t>
            </a:r>
            <a:r>
              <a:rPr lang="en-US" altLang="zh-CN"/>
              <a:t>548</a:t>
            </a:r>
            <a:r>
              <a:rPr lang="zh-CN" altLang="en-US"/>
              <a:t>个，计算能力</a:t>
            </a:r>
            <a:r>
              <a:rPr lang="en-US" altLang="zh-CN"/>
              <a:t>1568</a:t>
            </a:r>
            <a:r>
              <a:rPr lang="zh-CN" altLang="en-US"/>
              <a:t>万亿次每秒，并行存储</a:t>
            </a:r>
            <a:r>
              <a:rPr lang="en-US" altLang="zh-CN"/>
              <a:t>7.8PB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02561" y="64655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胜利物探院资料处理计算能力</a:t>
            </a:r>
          </a:p>
        </p:txBody>
      </p:sp>
      <p:sp>
        <p:nvSpPr>
          <p:cNvPr id="7" name="矩形 3"/>
          <p:cNvSpPr/>
          <p:nvPr/>
        </p:nvSpPr>
        <p:spPr>
          <a:xfrm>
            <a:off x="76058" y="825396"/>
            <a:ext cx="4357397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胜利物探院处理计算能力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—GPU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计算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095715" y="1506244"/>
          <a:ext cx="5717309" cy="4657067"/>
        </p:xfrm>
        <a:graphic>
          <a:graphicData uri="http://schemas.openxmlformats.org/drawingml/2006/table">
            <a:tbl>
              <a:tblPr/>
              <a:tblGrid>
                <a:gridCol w="1252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8968">
                <a:tc>
                  <a:txBody>
                    <a:bodyPr/>
                    <a:lstStyle/>
                    <a:p>
                      <a:pPr algn="l" fontAlgn="b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759" marR="8759" marT="87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759" marR="8759" marT="87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759" marR="8759" marT="87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759" marR="8759" marT="87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968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机器型号</a:t>
                      </a:r>
                    </a:p>
                  </a:txBody>
                  <a:tcPr marL="8759" marR="8759" marT="87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节点名称</a:t>
                      </a:r>
                    </a:p>
                  </a:txBody>
                  <a:tcPr marL="8759" marR="8759" marT="87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节点数量</a:t>
                      </a:r>
                    </a:p>
                  </a:txBody>
                  <a:tcPr marL="8759" marR="8759" marT="87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应用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5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曙光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W780-G20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gp5245-gp5249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反演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5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曙光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W780-G20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gp4201-gp4214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56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华三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gp4195-gp4199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56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gp4192-gp4194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03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华为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G5500/G560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sg0218，sg0219，sg0226-sg0228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π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平台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5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曙光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X580-G30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gp4221-gp4251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THUNDER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AGT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56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华为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G5500/G560</a:t>
                      </a:r>
                    </a:p>
                  </a:txBody>
                  <a:tcPr marL="8759" marR="8759" marT="87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ht3031-ht3040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03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华为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G5500/G560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ht3004,ht3014-ht3016,ht3019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5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曙光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W780-G20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gp4215-gp4220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GeoEast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523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华为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G5500/G560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ht3001-ht3003、ht3008、ht3012、ht3013、ht3017、ht3018、ht3020、ht3021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geostar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509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华为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G5500/G560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ht3006,ht3022-ht3025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5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华为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G5500/G560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ht3026-ht3030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神通、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VSS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5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浪潮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NF5280M5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yx8001-yx8056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Thunder</a:t>
                      </a:r>
                    </a:p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CGG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566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+mn-ea"/>
                        </a:rPr>
                        <a:t>浪潮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+mn-ea"/>
                        </a:rPr>
                        <a:t>NF5280M6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lc8001-lc8016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0290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合计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176</a:t>
                      </a:r>
                    </a:p>
                  </a:txBody>
                  <a:tcPr marL="8759" marR="8759" marT="87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759" marR="8759" marT="87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231510" y="1686148"/>
            <a:ext cx="554210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经多次升级，大规模配置多种高性能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计算卡，通过部署多套专业处理应用系统软件，实现高效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运算，目前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算力达到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3057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万亿次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秒（双精度）。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14939" y="3486948"/>
          <a:ext cx="4775243" cy="2400300"/>
        </p:xfrm>
        <a:graphic>
          <a:graphicData uri="http://schemas.openxmlformats.org/drawingml/2006/table">
            <a:tbl>
              <a:tblPr/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型号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单精度算力</a:t>
                      </a:r>
                      <a:b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万亿次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双精度算力</a:t>
                      </a:r>
                      <a:b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万亿次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单精度算力</a:t>
                      </a:r>
                      <a:b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万亿次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双精度算力</a:t>
                      </a:r>
                      <a:b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万亿次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1326.96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442.32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V100S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1705.6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852.8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RTX2080Ti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4341.6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446.4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225.6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A100 80G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349.2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+mn-ea"/>
                        </a:rPr>
                        <a:t>A100 40G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1047.6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10908.56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3057.52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740</Words>
  <Application>Microsoft Office PowerPoint</Application>
  <PresentationFormat>宽屏</PresentationFormat>
  <Paragraphs>226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方正兰亭中黑简体</vt:lpstr>
      <vt:lpstr>黑体</vt:lpstr>
      <vt:lpstr>宋体</vt:lpstr>
      <vt:lpstr>微软雅黑</vt:lpstr>
      <vt:lpstr>Arial</vt:lpstr>
      <vt:lpstr>Calibri Light</vt:lpstr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sunpengpeng</dc:creator>
  <cp:lastModifiedBy>靖 郭</cp:lastModifiedBy>
  <cp:revision>206</cp:revision>
  <dcterms:created xsi:type="dcterms:W3CDTF">2020-07-03T08:58:00Z</dcterms:created>
  <dcterms:modified xsi:type="dcterms:W3CDTF">2025-03-27T02:58:55Z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5B3E3DEE103446EC9AF70699B59DD209</vt:lpwstr>
  </property>
  <property fmtid="{D5CDD505-2E9C-101B-9397-08002B2CF9AE}" pid="3" name="KSOProductBuildVer">
    <vt:lpwstr>2052-11.8.2.11718</vt:lpwstr>
  </property>
</Properties>
</file>